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FFE4EC-5C5B-4B90-90E4-71567D412C30}" v="17" dt="2026-04-09T07:02:03.609"/>
    <p1510:client id="{6F57AB3C-A268-4935-B765-B2787840733A}" v="12" dt="2026-04-09T07:37:48.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0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shna Khan" userId="b549cd08c87389ac" providerId="LiveId" clId="{961F3CA6-C3CD-4555-8239-02ECCF9C7888}"/>
    <pc:docChg chg="undo custSel modSld">
      <pc:chgData name="Aashna Khan" userId="b549cd08c87389ac" providerId="LiveId" clId="{961F3CA6-C3CD-4555-8239-02ECCF9C7888}" dt="2026-04-09T07:38:31.399" v="287" actId="403"/>
      <pc:docMkLst>
        <pc:docMk/>
      </pc:docMkLst>
      <pc:sldChg chg="addSp delSp modSp mod">
        <pc:chgData name="Aashna Khan" userId="b549cd08c87389ac" providerId="LiveId" clId="{961F3CA6-C3CD-4555-8239-02ECCF9C7888}" dt="2026-04-09T07:38:31.399" v="287" actId="403"/>
        <pc:sldMkLst>
          <pc:docMk/>
          <pc:sldMk cId="0" sldId="262"/>
        </pc:sldMkLst>
        <pc:spChg chg="del">
          <ac:chgData name="Aashna Khan" userId="b549cd08c87389ac" providerId="LiveId" clId="{961F3CA6-C3CD-4555-8239-02ECCF9C7888}" dt="2026-04-09T07:07:40.125" v="95" actId="478"/>
          <ac:spMkLst>
            <pc:docMk/>
            <pc:sldMk cId="0" sldId="262"/>
            <ac:spMk id="7" creationId="{00000000-0000-0000-0000-000000000000}"/>
          </ac:spMkLst>
        </pc:spChg>
        <pc:spChg chg="mod">
          <ac:chgData name="Aashna Khan" userId="b549cd08c87389ac" providerId="LiveId" clId="{961F3CA6-C3CD-4555-8239-02ECCF9C7888}" dt="2026-04-09T07:08:49.247" v="105" actId="14100"/>
          <ac:spMkLst>
            <pc:docMk/>
            <pc:sldMk cId="0" sldId="262"/>
            <ac:spMk id="9" creationId="{00000000-0000-0000-0000-000000000000}"/>
          </ac:spMkLst>
        </pc:spChg>
        <pc:spChg chg="mod">
          <ac:chgData name="Aashna Khan" userId="b549cd08c87389ac" providerId="LiveId" clId="{961F3CA6-C3CD-4555-8239-02ECCF9C7888}" dt="2026-04-09T07:08:56.542" v="107" actId="14100"/>
          <ac:spMkLst>
            <pc:docMk/>
            <pc:sldMk cId="0" sldId="262"/>
            <ac:spMk id="10" creationId="{00000000-0000-0000-0000-000000000000}"/>
          </ac:spMkLst>
        </pc:spChg>
        <pc:spChg chg="mod">
          <ac:chgData name="Aashna Khan" userId="b549cd08c87389ac" providerId="LiveId" clId="{961F3CA6-C3CD-4555-8239-02ECCF9C7888}" dt="2026-04-09T07:07:12.134" v="90" actId="20577"/>
          <ac:spMkLst>
            <pc:docMk/>
            <pc:sldMk cId="0" sldId="262"/>
            <ac:spMk id="11" creationId="{00000000-0000-0000-0000-000000000000}"/>
          </ac:spMkLst>
        </pc:spChg>
        <pc:spChg chg="del">
          <ac:chgData name="Aashna Khan" userId="b549cd08c87389ac" providerId="LiveId" clId="{961F3CA6-C3CD-4555-8239-02ECCF9C7888}" dt="2026-04-09T07:10:10.194" v="138" actId="478"/>
          <ac:spMkLst>
            <pc:docMk/>
            <pc:sldMk cId="0" sldId="262"/>
            <ac:spMk id="12" creationId="{00000000-0000-0000-0000-000000000000}"/>
          </ac:spMkLst>
        </pc:spChg>
        <pc:spChg chg="mod">
          <ac:chgData name="Aashna Khan" userId="b549cd08c87389ac" providerId="LiveId" clId="{961F3CA6-C3CD-4555-8239-02ECCF9C7888}" dt="2026-04-09T07:26:28.142" v="169" actId="14100"/>
          <ac:spMkLst>
            <pc:docMk/>
            <pc:sldMk cId="0" sldId="262"/>
            <ac:spMk id="14" creationId="{00000000-0000-0000-0000-000000000000}"/>
          </ac:spMkLst>
        </pc:spChg>
        <pc:spChg chg="mod">
          <ac:chgData name="Aashna Khan" userId="b549cd08c87389ac" providerId="LiveId" clId="{961F3CA6-C3CD-4555-8239-02ECCF9C7888}" dt="2026-04-09T07:33:21.363" v="224" actId="20577"/>
          <ac:spMkLst>
            <pc:docMk/>
            <pc:sldMk cId="0" sldId="262"/>
            <ac:spMk id="15" creationId="{00000000-0000-0000-0000-000000000000}"/>
          </ac:spMkLst>
        </pc:spChg>
        <pc:spChg chg="mod">
          <ac:chgData name="Aashna Khan" userId="b549cd08c87389ac" providerId="LiveId" clId="{961F3CA6-C3CD-4555-8239-02ECCF9C7888}" dt="2026-04-09T07:09:39.703" v="110" actId="20577"/>
          <ac:spMkLst>
            <pc:docMk/>
            <pc:sldMk cId="0" sldId="262"/>
            <ac:spMk id="16" creationId="{00000000-0000-0000-0000-000000000000}"/>
          </ac:spMkLst>
        </pc:spChg>
        <pc:spChg chg="del">
          <ac:chgData name="Aashna Khan" userId="b549cd08c87389ac" providerId="LiveId" clId="{961F3CA6-C3CD-4555-8239-02ECCF9C7888}" dt="2026-04-09T07:27:29.283" v="198" actId="478"/>
          <ac:spMkLst>
            <pc:docMk/>
            <pc:sldMk cId="0" sldId="262"/>
            <ac:spMk id="17" creationId="{00000000-0000-0000-0000-000000000000}"/>
          </ac:spMkLst>
        </pc:spChg>
        <pc:spChg chg="mod">
          <ac:chgData name="Aashna Khan" userId="b549cd08c87389ac" providerId="LiveId" clId="{961F3CA6-C3CD-4555-8239-02ECCF9C7888}" dt="2026-04-09T07:27:09.111" v="194" actId="14100"/>
          <ac:spMkLst>
            <pc:docMk/>
            <pc:sldMk cId="0" sldId="262"/>
            <ac:spMk id="19" creationId="{00000000-0000-0000-0000-000000000000}"/>
          </ac:spMkLst>
        </pc:spChg>
        <pc:spChg chg="mod">
          <ac:chgData name="Aashna Khan" userId="b549cd08c87389ac" providerId="LiveId" clId="{961F3CA6-C3CD-4555-8239-02ECCF9C7888}" dt="2026-04-09T07:33:46.493" v="260" actId="20577"/>
          <ac:spMkLst>
            <pc:docMk/>
            <pc:sldMk cId="0" sldId="262"/>
            <ac:spMk id="20" creationId="{00000000-0000-0000-0000-000000000000}"/>
          </ac:spMkLst>
        </pc:spChg>
        <pc:spChg chg="mod">
          <ac:chgData name="Aashna Khan" userId="b549cd08c87389ac" providerId="LiveId" clId="{961F3CA6-C3CD-4555-8239-02ECCF9C7888}" dt="2026-04-09T07:26:50.684" v="170" actId="6549"/>
          <ac:spMkLst>
            <pc:docMk/>
            <pc:sldMk cId="0" sldId="262"/>
            <ac:spMk id="21" creationId="{00000000-0000-0000-0000-000000000000}"/>
          </ac:spMkLst>
        </pc:spChg>
        <pc:spChg chg="add mod">
          <ac:chgData name="Aashna Khan" userId="b549cd08c87389ac" providerId="LiveId" clId="{961F3CA6-C3CD-4555-8239-02ECCF9C7888}" dt="2026-04-09T07:38:31.399" v="287" actId="403"/>
          <ac:spMkLst>
            <pc:docMk/>
            <pc:sldMk cId="0" sldId="262"/>
            <ac:spMk id="33" creationId="{3117A551-B49E-EA32-377C-48E826355F04}"/>
          </ac:spMkLst>
        </pc:spChg>
        <pc:spChg chg="add mod">
          <ac:chgData name="Aashna Khan" userId="b549cd08c87389ac" providerId="LiveId" clId="{961F3CA6-C3CD-4555-8239-02ECCF9C7888}" dt="2026-04-09T07:38:16.783" v="284" actId="403"/>
          <ac:spMkLst>
            <pc:docMk/>
            <pc:sldMk cId="0" sldId="262"/>
            <ac:spMk id="34" creationId="{96C4B505-178F-0039-6E1D-BC0FE1B26991}"/>
          </ac:spMkLst>
        </pc:spChg>
        <pc:spChg chg="add mod">
          <ac:chgData name="Aashna Khan" userId="b549cd08c87389ac" providerId="LiveId" clId="{961F3CA6-C3CD-4555-8239-02ECCF9C7888}" dt="2026-04-09T07:38:09.444" v="283" actId="113"/>
          <ac:spMkLst>
            <pc:docMk/>
            <pc:sldMk cId="0" sldId="262"/>
            <ac:spMk id="35" creationId="{18172BF3-97C7-04C5-0498-DEE4C09EE7E2}"/>
          </ac:spMkLst>
        </pc:spChg>
        <pc:picChg chg="add mod">
          <ac:chgData name="Aashna Khan" userId="b549cd08c87389ac" providerId="LiveId" clId="{961F3CA6-C3CD-4555-8239-02ECCF9C7888}" dt="2026-04-09T07:09:10.659" v="109" actId="14100"/>
          <ac:picMkLst>
            <pc:docMk/>
            <pc:sldMk cId="0" sldId="262"/>
            <ac:picMk id="3" creationId="{F12E32A3-2293-7D5E-52ED-4C4F66885731}"/>
          </ac:picMkLst>
        </pc:picChg>
        <pc:picChg chg="add del mod">
          <ac:chgData name="Aashna Khan" userId="b549cd08c87389ac" providerId="LiveId" clId="{961F3CA6-C3CD-4555-8239-02ECCF9C7888}" dt="2026-04-09T07:10:40.061" v="140" actId="478"/>
          <ac:picMkLst>
            <pc:docMk/>
            <pc:sldMk cId="0" sldId="262"/>
            <ac:picMk id="8" creationId="{15289F2A-8085-C92B-FD29-F8C16963D93E}"/>
          </ac:picMkLst>
        </pc:picChg>
        <pc:picChg chg="add del mod">
          <ac:chgData name="Aashna Khan" userId="b549cd08c87389ac" providerId="LiveId" clId="{961F3CA6-C3CD-4555-8239-02ECCF9C7888}" dt="2026-04-09T07:16:52.444" v="142" actId="931"/>
          <ac:picMkLst>
            <pc:docMk/>
            <pc:sldMk cId="0" sldId="262"/>
            <ac:picMk id="22" creationId="{C170B243-96D1-5E18-B5AB-74A91D0A80FF}"/>
          </ac:picMkLst>
        </pc:picChg>
        <pc:picChg chg="add mod">
          <ac:chgData name="Aashna Khan" userId="b549cd08c87389ac" providerId="LiveId" clId="{961F3CA6-C3CD-4555-8239-02ECCF9C7888}" dt="2026-04-09T07:20:50.326" v="152" actId="1076"/>
          <ac:picMkLst>
            <pc:docMk/>
            <pc:sldMk cId="0" sldId="262"/>
            <ac:picMk id="24" creationId="{095EF176-BD2B-1E25-0726-A2B642449861}"/>
          </ac:picMkLst>
        </pc:picChg>
        <pc:picChg chg="add mod">
          <ac:chgData name="Aashna Khan" userId="b549cd08c87389ac" providerId="LiveId" clId="{961F3CA6-C3CD-4555-8239-02ECCF9C7888}" dt="2026-04-09T07:20:55.217" v="153" actId="1076"/>
          <ac:picMkLst>
            <pc:docMk/>
            <pc:sldMk cId="0" sldId="262"/>
            <ac:picMk id="26" creationId="{CFE8B03A-F9BD-5BEB-07BB-60B1B664DCAF}"/>
          </ac:picMkLst>
        </pc:picChg>
        <pc:picChg chg="add mod modCrop">
          <ac:chgData name="Aashna Khan" userId="b549cd08c87389ac" providerId="LiveId" clId="{961F3CA6-C3CD-4555-8239-02ECCF9C7888}" dt="2026-04-09T07:25:32.755" v="163" actId="14100"/>
          <ac:picMkLst>
            <pc:docMk/>
            <pc:sldMk cId="0" sldId="262"/>
            <ac:picMk id="28" creationId="{1DBB2A8D-8A1E-9E68-DDE3-7322B976F0A4}"/>
          </ac:picMkLst>
        </pc:picChg>
        <pc:picChg chg="add mod">
          <ac:chgData name="Aashna Khan" userId="b549cd08c87389ac" providerId="LiveId" clId="{961F3CA6-C3CD-4555-8239-02ECCF9C7888}" dt="2026-04-09T07:26:14.540" v="167" actId="1076"/>
          <ac:picMkLst>
            <pc:docMk/>
            <pc:sldMk cId="0" sldId="262"/>
            <ac:picMk id="30" creationId="{10F28C4A-BBFD-A953-B82B-72EB712F7657}"/>
          </ac:picMkLst>
        </pc:picChg>
        <pc:picChg chg="add mod modCrop">
          <ac:chgData name="Aashna Khan" userId="b549cd08c87389ac" providerId="LiveId" clId="{961F3CA6-C3CD-4555-8239-02ECCF9C7888}" dt="2026-04-09T07:30:00.341" v="209" actId="14100"/>
          <ac:picMkLst>
            <pc:docMk/>
            <pc:sldMk cId="0" sldId="262"/>
            <ac:picMk id="32" creationId="{B7A42344-BA68-E4AA-E78E-3305F79B9B2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7.xml"/><Relationship Id="rId7" Type="http://schemas.openxmlformats.org/officeDocument/2006/relationships/image" Target="../media/image16.png"/><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2.xml"/><Relationship Id="rId6" Type="http://schemas.openxmlformats.org/officeDocument/2006/relationships/image" Target="../media/image19.png"/><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Aashna Khan</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aashna4477@gmail.com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0170"/>
            <a:chOff x="3139699" y="4295282"/>
            <a:chExt cx="2272871" cy="380170"/>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18586"/>
            </a:xfrm>
            <a:prstGeom prst="rect">
              <a:avLst/>
            </a:prstGeom>
          </p:spPr>
          <p:txBody>
            <a:bodyPr lIns="0" tIns="0" rIns="0" bIns="0" rtlCol="0" anchor="t">
              <a:spAutoFit/>
            </a:bodyPr>
            <a:lstStyle/>
            <a:p>
              <a:pPr>
                <a:lnSpc>
                  <a:spcPts val="2038"/>
                </a:lnSpc>
              </a:pPr>
              <a:r>
                <a:rPr lang="en-US" sz="900" b="1" dirty="0">
                  <a:solidFill>
                    <a:srgbClr val="0D358D"/>
                  </a:solidFill>
                  <a:latin typeface="Arial" panose="020B0604020202020204" pitchFamily="34" charset="0"/>
                  <a:ea typeface="Aileron Bold"/>
                  <a:cs typeface="Arial" panose="020B0604020202020204" pitchFamily="34" charset="0"/>
                  <a:sym typeface="Aileron Bold"/>
                </a:rPr>
                <a:t>Umma 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cstate="email">
            <a:extLst>
              <a:ext uri="{28A0092B-C50C-407E-A947-70E740481C1C}">
                <a14:useLocalDpi xmlns:a14="http://schemas.microsoft.com/office/drawing/2010/main"/>
              </a:ext>
            </a:extLst>
          </a:blip>
          <a:srcRect/>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447162" cy="910506"/>
          </a:xfrm>
          <a:prstGeom prst="rect">
            <a:avLst/>
          </a:prstGeom>
          <a:noFill/>
        </p:spPr>
        <p:txBody>
          <a:bodyPr wrap="square">
            <a:spAutoFit/>
          </a:bodyPr>
          <a:lstStyle/>
          <a:p>
            <a:pPr algn="ctr">
              <a:spcBef>
                <a:spcPts val="400"/>
              </a:spcBef>
              <a:spcAft>
                <a:spcPts val="400"/>
              </a:spcAft>
            </a:pPr>
            <a:r>
              <a:rPr lang="en-IN" b="1" dirty="0"/>
              <a:t>Driving Business Growth through Amazon Sales Analytics using AI-Powered Excel</a:t>
            </a:r>
            <a:endParaRPr lang="en-IN" dirty="0"/>
          </a:p>
          <a:p>
            <a:pPr algn="ctr">
              <a:spcBef>
                <a:spcPts val="400"/>
              </a:spcBef>
              <a:spcAft>
                <a:spcPts val="400"/>
              </a:spcAft>
              <a:buNone/>
            </a:pP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046988"/>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600" dirty="0">
                <a:latin typeface="Lato" panose="020F0502020204030203" pitchFamily="34" charset="0"/>
                <a:ea typeface="+mn-lt"/>
                <a:cs typeface="Arial" panose="020B0604020202020204" pitchFamily="34" charset="0"/>
              </a:rPr>
              <a:t>This project, completed under the AICW Fellowship by </a:t>
            </a:r>
            <a:r>
              <a:rPr lang="en-US" sz="1600" dirty="0" err="1">
                <a:latin typeface="Lato" panose="020F0502020204030203" pitchFamily="34" charset="0"/>
                <a:ea typeface="+mn-lt"/>
                <a:cs typeface="Arial" panose="020B0604020202020204" pitchFamily="34" charset="0"/>
              </a:rPr>
              <a:t>Edunet</a:t>
            </a:r>
            <a:r>
              <a:rPr lang="en-US" sz="1600" dirty="0">
                <a:latin typeface="Lato" panose="020F0502020204030203" pitchFamily="34" charset="0"/>
                <a:ea typeface="+mn-lt"/>
                <a:cs typeface="Arial" panose="020B0604020202020204" pitchFamily="34" charset="0"/>
              </a:rPr>
              <a:t> Foundation in collaboration with Microsoft, LinkedIn, and SAP, analyzes a 100,000-record Amazon sales dataset using Microsoft Excel. The data was cleaned, structured, and enhanced with key metrics such as revenue, adjusted revenue, profit, adjusted profit, and return flags. Interactive dashboards and KPIs were developed to reveal sales trends, category performance, regional contributions, and revenue leakages, transforming raw data into actionable insights for data-driven business decisions.</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703578"/>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GB" sz="1600" dirty="0">
                <a:latin typeface="Lato" panose="020F0502020204030203" pitchFamily="34" charset="0"/>
                <a:ea typeface="+mn-lt"/>
                <a:cs typeface="Arial" panose="020B0604020202020204" pitchFamily="34" charset="0"/>
              </a:rPr>
              <a:t>The core problem is the lack of a structured system to convert raw sales data into actionable insights.
This is significant because poor visibility into sales and profits leads to weak strategic decisions.
It affects retail businesses, managers, and analysts in e-commerce markets.
Existing tools provide fragmented reports, limited KPIs, and no integrated AI insights.
The scope focuses on sales, profitability, regional performance, cancellations, and returns analysis only.</a:t>
            </a:r>
            <a:endParaRPr lang="en-US" sz="1600"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58265" y="851095"/>
            <a:ext cx="3447686" cy="3669638"/>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5" y="1046013"/>
            <a:ext cx="5051425" cy="3474720"/>
          </a:xfrm>
          <a:prstGeom prst="rect">
            <a:avLst/>
          </a:prstGeom>
          <a:noFill/>
          <a:ln/>
        </p:spPr>
        <p:txBody>
          <a:bodyPr wrap="square" rtlCol="0" anchor="t"/>
          <a:lstStyle/>
          <a:p>
            <a:pPr marL="285750" indent="-285750">
              <a:buFont typeface="Arial" panose="020B0604020202020204" pitchFamily="34" charset="0"/>
              <a:buChar char="•"/>
            </a:pPr>
            <a:r>
              <a:rPr lang="en-US" sz="1600" dirty="0"/>
              <a:t>Developed a structured analytics framework to convert raw sales data into actionable insights.</a:t>
            </a:r>
          </a:p>
          <a:p>
            <a:pPr marL="285750" indent="-285750">
              <a:buFont typeface="Arial" panose="020B0604020202020204" pitchFamily="34" charset="0"/>
              <a:buChar char="•"/>
            </a:pPr>
            <a:r>
              <a:rPr lang="en-US" sz="1600" dirty="0"/>
              <a:t>Implemented systematic data collection, cleaning, and transformation in Excel.</a:t>
            </a:r>
          </a:p>
          <a:p>
            <a:pPr marL="285750" indent="-285750">
              <a:buFont typeface="Arial" panose="020B0604020202020204" pitchFamily="34" charset="0"/>
              <a:buChar char="•"/>
            </a:pPr>
            <a:r>
              <a:rPr lang="en-US" sz="1600" dirty="0"/>
              <a:t>Created key performance indicators (KPIs) including revenue, gross profit, net profit, and return metrics.</a:t>
            </a:r>
          </a:p>
          <a:p>
            <a:pPr marL="285750" indent="-285750">
              <a:buFont typeface="Arial" panose="020B0604020202020204" pitchFamily="34" charset="0"/>
              <a:buChar char="•"/>
            </a:pPr>
            <a:r>
              <a:rPr lang="en-US" sz="1600" dirty="0"/>
              <a:t>Used pivot tables for multi-dimensional sales and regional performance analysis.</a:t>
            </a:r>
          </a:p>
          <a:p>
            <a:pPr marL="285750" indent="-285750">
              <a:buFont typeface="Arial" panose="020B0604020202020204" pitchFamily="34" charset="0"/>
              <a:buChar char="•"/>
            </a:pPr>
            <a:r>
              <a:rPr lang="en-US" sz="1600" dirty="0"/>
              <a:t>Designed an interactive dashboard with slicers for real-time filtering and visualization.</a:t>
            </a:r>
          </a:p>
          <a:p>
            <a:pPr marL="285750" indent="-285750">
              <a:buFont typeface="Arial" panose="020B0604020202020204" pitchFamily="34" charset="0"/>
              <a:buChar char="•"/>
            </a:pPr>
            <a:r>
              <a:rPr lang="en-US" sz="1600" dirty="0"/>
              <a:t>Integrated AI-assisted support (Excel Copilot) to enhance formula optimization and analytical efficiency.</a:t>
            </a:r>
          </a:p>
          <a:p>
            <a:pPr marL="285750" indent="-285750">
              <a:buFont typeface="Arial" panose="020B0604020202020204" pitchFamily="34" charset="0"/>
              <a:buChar char="•"/>
            </a:pPr>
            <a:r>
              <a:rPr lang="en-US" sz="1600" dirty="0"/>
              <a:t>Reduced manual reporting and improved decision-making through a consolidated system.</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100" b="1" dirty="0">
                <a:latin typeface="Lato" panose="020F0502020204030203" pitchFamily="34" charset="0"/>
                <a:cs typeface="Arial" panose="020B0604020202020204" pitchFamily="34" charset="0"/>
              </a:rPr>
              <a:t>The project utilizes a structured transactional dataset sourced from Kaggle containing 100,000 Amazon sales records. The data was imported into Excel as raw files and served as the primary input source. The dataset includes order details, pricing, shipping cost, payment methods, seller information, and order status, forming the foundation for analysis.</a:t>
            </a:r>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100" b="1" dirty="0">
                <a:latin typeface="Lato" panose="020F0502020204030203" pitchFamily="34" charset="0"/>
                <a:cs typeface="Arial" panose="020B0604020202020204" pitchFamily="34" charset="0"/>
              </a:rPr>
              <a:t>The raw dataset was cleaned and transformed using Excel functions and structured data techniques. Additional calculated columns such as Month, Quarter, Revenue, Gross Profit, Net Profit, Shipping Impact %, and Return Flag were created to enable time-based and financial analysis. Pivot tables were then used to aggregate and summarize data across multiple dimensions for deeper insights</a:t>
            </a:r>
            <a:r>
              <a:rPr lang="en-US" sz="1100" dirty="0">
                <a:latin typeface="Lato" panose="020F0502020204030203" pitchFamily="34" charset="0"/>
                <a:cs typeface="Arial" panose="020B0604020202020204" pitchFamily="34" charset="0"/>
              </a:rPr>
              <a:t>.</a:t>
            </a:r>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100" b="1" dirty="0">
                <a:latin typeface="Lato" panose="020F0502020204030203" pitchFamily="34" charset="0"/>
                <a:cs typeface="Arial" panose="020B0604020202020204" pitchFamily="34" charset="0"/>
              </a:rPr>
              <a:t>Microsoft Excel, along with Copilot assistance, was used to enhance analytical efficiency and formula optimization. AI-supported suggestions improved data structuring, calculated metrics, and dashboard refinement. Pivot tables and slicers were integrated to create dynamic, user-driven analysis within the Excel environment.</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100" b="1" dirty="0">
                <a:latin typeface="Lato" panose="020F0502020204030203" pitchFamily="34" charset="0"/>
                <a:cs typeface="Arial" panose="020B0604020202020204" pitchFamily="34" charset="0"/>
              </a:rPr>
              <a:t>The final output is an interactive Excel dashboard that visualizes monthly sales trends, category performance, regional contributions, and top products. Dynamic slicers enable real-time filtering, transforming processed data into actionable business insights for strategic decision-making.</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9" name="Shape 7"/>
          <p:cNvSpPr/>
          <p:nvPr/>
        </p:nvSpPr>
        <p:spPr>
          <a:xfrm>
            <a:off x="274320" y="3295119"/>
            <a:ext cx="2788920" cy="1553517"/>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0" name="Text 8"/>
          <p:cNvSpPr/>
          <p:nvPr/>
        </p:nvSpPr>
        <p:spPr>
          <a:xfrm>
            <a:off x="274320" y="3295119"/>
            <a:ext cx="2788920" cy="422502"/>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 : Dashboard</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7"/>
            <a:ext cx="2514600" cy="1928799"/>
          </a:xfrm>
          <a:prstGeom prst="rect">
            <a:avLst/>
          </a:prstGeom>
          <a:noFill/>
          <a:ln/>
        </p:spPr>
        <p:txBody>
          <a:bodyPr wrap="square" rtlCol="0" anchor="ctr"/>
          <a:lstStyle/>
          <a:p>
            <a:pPr algn="ctr"/>
            <a:endParaRPr lang="en-US" sz="900" b="1" dirty="0">
              <a:latin typeface="Lato" panose="020F0502020204030203" pitchFamily="34" charset="0"/>
              <a:cs typeface="Arial" panose="020B0604020202020204" pitchFamily="34" charset="0"/>
            </a:endParaRPr>
          </a:p>
        </p:txBody>
      </p:sp>
      <p:sp>
        <p:nvSpPr>
          <p:cNvPr id="14" name="Shape 12"/>
          <p:cNvSpPr/>
          <p:nvPr/>
        </p:nvSpPr>
        <p:spPr>
          <a:xfrm>
            <a:off x="3131819" y="3295119"/>
            <a:ext cx="2875789" cy="1553518"/>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15" name="Text 13"/>
          <p:cNvSpPr/>
          <p:nvPr/>
        </p:nvSpPr>
        <p:spPr>
          <a:xfrm>
            <a:off x="3218688" y="3264579"/>
            <a:ext cx="2788920" cy="422503"/>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 : Key Formulae</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928798"/>
          </a:xfrm>
          <a:prstGeom prst="rect">
            <a:avLst/>
          </a:prstGeom>
          <a:noFill/>
          <a:ln/>
        </p:spPr>
        <p:txBody>
          <a:bodyPr wrap="square" rtlCol="0" anchor="ctr"/>
          <a:lstStyle/>
          <a:p>
            <a:pPr marL="0" indent="0" algn="ctr">
              <a:buNone/>
            </a:pPr>
            <a:endParaRPr lang="en-US" sz="900" dirty="0">
              <a:latin typeface="Lato" panose="020F0502020204030203" pitchFamily="34" charset="0"/>
              <a:cs typeface="Arial" panose="020B0604020202020204"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3255257"/>
            <a:ext cx="2788920" cy="1596982"/>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3255257"/>
            <a:ext cx="2788920" cy="374207"/>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 : Copilot Assistance </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7"/>
            <a:ext cx="2514600" cy="1870211"/>
          </a:xfrm>
          <a:prstGeom prst="rect">
            <a:avLst/>
          </a:prstGeom>
          <a:noFill/>
          <a:ln/>
        </p:spPr>
        <p:txBody>
          <a:bodyPr wrap="square" rtlCol="0" anchor="ctr"/>
          <a:lstStyle/>
          <a:p>
            <a:pPr marL="0" indent="0" algn="ctr">
              <a:buNone/>
            </a:pPr>
            <a:endParaRPr lang="en-US" sz="9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F12E32A3-2293-7D5E-52ED-4C4F668857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4320" y="1485508"/>
            <a:ext cx="2779776" cy="1779072"/>
          </a:xfrm>
          <a:prstGeom prst="rect">
            <a:avLst/>
          </a:prstGeom>
        </p:spPr>
      </p:pic>
      <p:pic>
        <p:nvPicPr>
          <p:cNvPr id="24" name="Picture 23">
            <a:extLst>
              <a:ext uri="{FF2B5EF4-FFF2-40B4-BE49-F238E27FC236}">
                <a16:creationId xmlns:a16="http://schemas.microsoft.com/office/drawing/2014/main" id="{095EF176-BD2B-1E25-0726-A2B64244986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131819" y="1492738"/>
            <a:ext cx="2880362" cy="457264"/>
          </a:xfrm>
          <a:prstGeom prst="rect">
            <a:avLst/>
          </a:prstGeom>
        </p:spPr>
      </p:pic>
      <p:pic>
        <p:nvPicPr>
          <p:cNvPr id="26" name="Picture 25">
            <a:extLst>
              <a:ext uri="{FF2B5EF4-FFF2-40B4-BE49-F238E27FC236}">
                <a16:creationId xmlns:a16="http://schemas.microsoft.com/office/drawing/2014/main" id="{CFE8B03A-F9BD-5BEB-07BB-60B1B664DCA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31819" y="1995609"/>
            <a:ext cx="2894431" cy="400106"/>
          </a:xfrm>
          <a:prstGeom prst="rect">
            <a:avLst/>
          </a:prstGeom>
        </p:spPr>
      </p:pic>
      <p:pic>
        <p:nvPicPr>
          <p:cNvPr id="28" name="Picture 27">
            <a:extLst>
              <a:ext uri="{FF2B5EF4-FFF2-40B4-BE49-F238E27FC236}">
                <a16:creationId xmlns:a16="http://schemas.microsoft.com/office/drawing/2014/main" id="{1DBB2A8D-8A1E-9E68-DDE3-7322B976F0A4}"/>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3131819" y="2413802"/>
            <a:ext cx="2880363" cy="443543"/>
          </a:xfrm>
          <a:prstGeom prst="rect">
            <a:avLst/>
          </a:prstGeom>
        </p:spPr>
      </p:pic>
      <p:pic>
        <p:nvPicPr>
          <p:cNvPr id="30" name="Picture 29">
            <a:extLst>
              <a:ext uri="{FF2B5EF4-FFF2-40B4-BE49-F238E27FC236}">
                <a16:creationId xmlns:a16="http://schemas.microsoft.com/office/drawing/2014/main" id="{10F28C4A-BBFD-A953-B82B-72EB712F765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31819" y="2826572"/>
            <a:ext cx="2875789" cy="428685"/>
          </a:xfrm>
          <a:prstGeom prst="rect">
            <a:avLst/>
          </a:prstGeom>
        </p:spPr>
      </p:pic>
      <p:pic>
        <p:nvPicPr>
          <p:cNvPr id="32" name="Picture 31">
            <a:extLst>
              <a:ext uri="{FF2B5EF4-FFF2-40B4-BE49-F238E27FC236}">
                <a16:creationId xmlns:a16="http://schemas.microsoft.com/office/drawing/2014/main" id="{B7A42344-BA68-E4AA-E78E-3305F79B9B2C}"/>
              </a:ext>
            </a:extLst>
          </p:cNvPr>
          <p:cNvPicPr>
            <a:picLocks noChangeAspect="1"/>
          </p:cNvPicPr>
          <p:nvPr/>
        </p:nvPicPr>
        <p:blipFill>
          <a:blip r:embed="rId9" cstate="print">
            <a:extLst>
              <a:ext uri="{28A0092B-C50C-407E-A947-70E740481C1C}">
                <a14:useLocalDpi xmlns:a14="http://schemas.microsoft.com/office/drawing/2010/main"/>
              </a:ext>
            </a:extLst>
          </a:blip>
          <a:srcRect/>
          <a:stretch>
            <a:fillRect/>
          </a:stretch>
        </p:blipFill>
        <p:spPr>
          <a:xfrm>
            <a:off x="6144768" y="1469279"/>
            <a:ext cx="2807208" cy="1697062"/>
          </a:xfrm>
          <a:prstGeom prst="rect">
            <a:avLst/>
          </a:prstGeom>
        </p:spPr>
      </p:pic>
      <p:sp>
        <p:nvSpPr>
          <p:cNvPr id="33" name="TextBox 32">
            <a:extLst>
              <a:ext uri="{FF2B5EF4-FFF2-40B4-BE49-F238E27FC236}">
                <a16:creationId xmlns:a16="http://schemas.microsoft.com/office/drawing/2014/main" id="{3117A551-B49E-EA32-377C-48E826355F04}"/>
              </a:ext>
            </a:extLst>
          </p:cNvPr>
          <p:cNvSpPr txBox="1"/>
          <p:nvPr/>
        </p:nvSpPr>
        <p:spPr>
          <a:xfrm>
            <a:off x="466343" y="3760190"/>
            <a:ext cx="2514600" cy="1015663"/>
          </a:xfrm>
          <a:prstGeom prst="rect">
            <a:avLst/>
          </a:prstGeom>
          <a:noFill/>
        </p:spPr>
        <p:txBody>
          <a:bodyPr wrap="square" rtlCol="0">
            <a:spAutoFit/>
          </a:bodyPr>
          <a:lstStyle/>
          <a:p>
            <a:r>
              <a:rPr lang="en-US" sz="1200" b="1" dirty="0"/>
              <a:t>I developed an interactive sales dashboard showing key KPIs such as total revenue, profit margin, and average order value, along with trend and category-wise analysis.</a:t>
            </a:r>
            <a:endParaRPr lang="en-IN" sz="1200" dirty="0"/>
          </a:p>
        </p:txBody>
      </p:sp>
      <p:sp>
        <p:nvSpPr>
          <p:cNvPr id="34" name="TextBox 33">
            <a:extLst>
              <a:ext uri="{FF2B5EF4-FFF2-40B4-BE49-F238E27FC236}">
                <a16:creationId xmlns:a16="http://schemas.microsoft.com/office/drawing/2014/main" id="{96C4B505-178F-0039-6E1D-BC0FE1B26991}"/>
              </a:ext>
            </a:extLst>
          </p:cNvPr>
          <p:cNvSpPr txBox="1"/>
          <p:nvPr/>
        </p:nvSpPr>
        <p:spPr>
          <a:xfrm>
            <a:off x="3277772" y="3760190"/>
            <a:ext cx="2514600" cy="830997"/>
          </a:xfrm>
          <a:prstGeom prst="rect">
            <a:avLst/>
          </a:prstGeom>
          <a:noFill/>
        </p:spPr>
        <p:txBody>
          <a:bodyPr wrap="square" rtlCol="0">
            <a:spAutoFit/>
          </a:bodyPr>
          <a:lstStyle/>
          <a:p>
            <a:r>
              <a:rPr lang="en-US" sz="1200" b="1" dirty="0"/>
              <a:t>I implemented advanced Excel formulas to automate calculations like adjusted revenue and quarterly segmentation.</a:t>
            </a:r>
            <a:endParaRPr lang="en-IN" sz="1200" b="1" dirty="0"/>
          </a:p>
        </p:txBody>
      </p:sp>
      <p:sp>
        <p:nvSpPr>
          <p:cNvPr id="35" name="TextBox 34">
            <a:extLst>
              <a:ext uri="{FF2B5EF4-FFF2-40B4-BE49-F238E27FC236}">
                <a16:creationId xmlns:a16="http://schemas.microsoft.com/office/drawing/2014/main" id="{18172BF3-97C7-04C5-0498-DEE4C09EE7E2}"/>
              </a:ext>
            </a:extLst>
          </p:cNvPr>
          <p:cNvSpPr txBox="1"/>
          <p:nvPr/>
        </p:nvSpPr>
        <p:spPr>
          <a:xfrm>
            <a:off x="6246055" y="3760190"/>
            <a:ext cx="2514600" cy="830997"/>
          </a:xfrm>
          <a:prstGeom prst="rect">
            <a:avLst/>
          </a:prstGeom>
          <a:noFill/>
        </p:spPr>
        <p:txBody>
          <a:bodyPr wrap="square" rtlCol="0">
            <a:spAutoFit/>
          </a:bodyPr>
          <a:lstStyle/>
          <a:p>
            <a:r>
              <a:rPr lang="en-US" sz="1200" b="1" dirty="0"/>
              <a:t>I integrated Microsoft Copilot, which assisted in generating the Level-1 Data Flow Diagram and improving system structure.</a:t>
            </a:r>
            <a:endParaRPr lang="en-IN" sz="1200" b="1"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dirty="0"/>
          </a:p>
        </p:txBody>
      </p:sp>
      <p:sp>
        <p:nvSpPr>
          <p:cNvPr id="12" name="Text 10"/>
          <p:cNvSpPr/>
          <p:nvPr/>
        </p:nvSpPr>
        <p:spPr>
          <a:xfrm>
            <a:off x="1389888" y="832104"/>
            <a:ext cx="4992624" cy="237744"/>
          </a:xfrm>
          <a:prstGeom prst="rect">
            <a:avLst/>
          </a:prstGeom>
          <a:noFill/>
          <a:ln/>
        </p:spPr>
        <p:txBody>
          <a:bodyPr wrap="square" rtlCol="0" anchor="ctr"/>
          <a:lstStyle/>
          <a:p>
            <a:r>
              <a:rPr lang="en-US" sz="900" dirty="0"/>
              <a:t>https://drive.google.com/file/d/14s4POWjxs-btjc1FQbXxKUto1RH57PEB/view?usp=drivesdk</a:t>
            </a:r>
          </a:p>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Video Project 3">
            <a:hlinkClick r:id="" action="ppaction://media"/>
            <a:extLst>
              <a:ext uri="{FF2B5EF4-FFF2-40B4-BE49-F238E27FC236}">
                <a16:creationId xmlns:a16="http://schemas.microsoft.com/office/drawing/2014/main" id="{A464CA22-682C-38A8-C79E-4EFC84D8172F}"/>
              </a:ext>
            </a:extLst>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365760" y="1152144"/>
            <a:ext cx="8412480" cy="357530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974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5128797" cy="3474720"/>
          </a:xfrm>
          <a:prstGeom prst="rect">
            <a:avLst/>
          </a:prstGeom>
          <a:noFill/>
          <a:ln/>
        </p:spPr>
        <p:txBody>
          <a:bodyPr wrap="square" rtlCol="0" anchor="t"/>
          <a:lstStyle/>
          <a:p>
            <a:r>
              <a:rPr lang="en-US" sz="1600" dirty="0"/>
              <a:t>The project successfully achieved its objectives by efficiently analyzing over 100,000 Amazon sales records and delivering an interactive dashboard with key performance indicators and visual insights. It demonstrated how Microsoft Excel, combined with AI assistance from Copilot, can handle large datasets to generate meaningful business intelligence for decision-making. The dashboard highlighted sales trends, category and country contributions, top-performing products, and year-wise comparisons, enabling quick identification of opportunities for improvement. Beyond the technical outcomes, the project strengthened practical skills in data cleaning, analysis, visualization, and AI-assisted reporting, while the fellowship experience reinforced the real-world application of business intelligence in driving data-driven decisions.</a:t>
            </a:r>
            <a:endParaRPr lang="en-US" sz="1600" dirty="0">
              <a:latin typeface="Lato" panose="020F0502020204030203" pitchFamily="34" charset="0"/>
              <a:cs typeface="Arial" panose="020B0604020202020204" pitchFamily="34" charset="0"/>
            </a:endParaRPr>
          </a:p>
          <a:p>
            <a:pPr marL="0" indent="0">
              <a:buNone/>
            </a:pPr>
            <a:endParaRPr lang="en-US" sz="1600"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a:xfrm>
            <a:off x="5458263" y="1050976"/>
            <a:ext cx="3456911"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6" y="1082104"/>
            <a:ext cx="5531966" cy="3474720"/>
          </a:xfrm>
          <a:prstGeom prst="rect">
            <a:avLst/>
          </a:prstGeom>
          <a:noFill/>
          <a:ln/>
        </p:spPr>
        <p:txBody>
          <a:bodyPr wrap="square" rtlCol="0" anchor="t"/>
          <a:lstStyle/>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The project can be further enhanced by integrating real-time data connectivity using SQL or cloud-based data sources to automate updates.</a:t>
            </a:r>
          </a:p>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Advanced analytical features such as predictive sales forecasting, customer segmentation, and profit optimization models can be incorporated using Power BI or Python for deeper insights. </a:t>
            </a:r>
          </a:p>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Scalability can be achieved by expanding the dataset to include multi-year or multi-market analysis.</a:t>
            </a:r>
          </a:p>
          <a:p>
            <a:pPr marL="285750" indent="-285750">
              <a:buFont typeface="Arial" panose="020B0604020202020204" pitchFamily="34" charset="0"/>
              <a:buChar char="•"/>
            </a:pPr>
            <a:r>
              <a:rPr lang="en-US" sz="1600" dirty="0">
                <a:latin typeface="Lato" panose="020F0502020204030203" pitchFamily="34" charset="0"/>
                <a:cs typeface="Arial" panose="020B0604020202020204" pitchFamily="34" charset="0"/>
              </a:rPr>
              <a:t>Additionally, integrating machine learning models for demand prediction and return analysis can significantly improve strategic decision-making and extend the overall impact of the project.</a:t>
            </a:r>
          </a:p>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10554" y="1082104"/>
            <a:ext cx="3777175" cy="2996036"/>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923</Words>
  <Application>Microsoft Office PowerPoint</Application>
  <PresentationFormat>On-screen Show (16:9)</PresentationFormat>
  <Paragraphs>72</Paragraphs>
  <Slides>11</Slides>
  <Notes>11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Aashna Khan</cp:lastModifiedBy>
  <cp:revision>35</cp:revision>
  <dcterms:created xsi:type="dcterms:W3CDTF">2026-02-18T09:17:23Z</dcterms:created>
  <dcterms:modified xsi:type="dcterms:W3CDTF">2026-04-09T07:38:36Z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